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>
        <p:guide pos="3840"/>
        <p:guide orient="horz" pos="21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BackGroundTitleSlide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-2736" y="761"/>
            <a:ext cx="11396812" cy="6413297"/>
          </a:xfrm>
          <a:prstGeom prst="rect">
            <a:avLst/>
          </a:prstGeom>
        </p:spPr>
      </p:pic>
      <p:sp>
        <p:nvSpPr>
          <p:cNvPr id="1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92249" y="3414219"/>
            <a:ext cx="5475749" cy="1310179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>
              <a:lnSpc>
                <a:spcPct val="80000"/>
              </a:lnSpc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Титульный лист</a:t>
            </a:r>
            <a:br>
              <a:rPr lang="ru-RU"/>
            </a:br>
            <a:r>
              <a:rPr lang="ru-RU"/>
              <a:t>Презентации</a:t>
            </a:r>
            <a:br>
              <a:rPr lang="ru-RU"/>
            </a:br>
            <a:r>
              <a:rPr lang="ru-RU"/>
              <a:t>С заголовком </a:t>
            </a:r>
            <a:br>
              <a:rPr lang="ru-RU"/>
            </a:br>
            <a:r>
              <a:rPr lang="ru-RU"/>
              <a:t>В 4 строки</a:t>
            </a:r>
            <a:endParaRPr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" name="BackGroundTitleSlide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-2736" y="761"/>
            <a:ext cx="11396812" cy="6413297"/>
          </a:xfrm>
          <a:prstGeom prst="rect">
            <a:avLst/>
          </a:prstGeom>
        </p:spPr>
      </p:pic>
      <p:sp>
        <p:nvSpPr>
          <p:cNvPr id="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76837" y="4154554"/>
            <a:ext cx="4877327" cy="736213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0" y="0"/>
            <a:ext cx="11394075" cy="6365242"/>
          </a:xfrm>
          <a:prstGeom prst="rect">
            <a:avLst/>
          </a:prstGeom>
        </p:spPr>
      </p:pic>
      <p:sp>
        <p:nvSpPr>
          <p:cNvPr id="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76837" y="4154554"/>
            <a:ext cx="4877327" cy="736213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0" y="0"/>
            <a:ext cx="11394075" cy="6365242"/>
          </a:xfrm>
          <a:prstGeom prst="rect">
            <a:avLst/>
          </a:prstGeom>
        </p:spPr>
      </p:pic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190750" y="6249600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ФАМИЛИЯ</a:t>
            </a:r>
            <a:endParaRPr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90750" y="5760620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В 2 СТРОКИ</a:t>
            </a:r>
            <a:endParaRPr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90750" y="5590537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ДОЛЖНОСТЬ</a:t>
            </a:r>
            <a:endParaRPr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190750" y="5201001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УТВЕРЖДАЮ</a:t>
            </a:r>
            <a:endParaRPr/>
          </a:p>
        </p:txBody>
      </p:sp>
      <p:sp>
        <p:nvSpPr>
          <p:cNvPr id="21" name="Straight Connector 8"/>
          <p:cNvSpPr/>
          <p:nvPr userDrawn="1"/>
        </p:nvSpPr>
        <p:spPr bwMode="auto">
          <a:xfrm>
            <a:off x="5193982" y="6200627"/>
            <a:ext cx="1802130" cy="148"/>
          </a:xfrm>
          <a:prstGeom prst="line">
            <a:avLst/>
          </a:prstGeom>
          <a:ln w="12700"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76837" y="3863635"/>
            <a:ext cx="4877327" cy="736213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3431ACEB-253D-2C3D-2F83-23BD2311D40F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5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03E88F64-D311-3B4D-3B70-212471074F3C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11388147-25DE-B6F8-2251-FB1345A0F4D7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34962" y="716778"/>
            <a:ext cx="8599946" cy="264298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>
            <a:lvl1pPr marL="0" indent="0">
              <a:buNone/>
              <a:defRPr lang="ru-RU" sz="20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ДЕСКРИПТОР СЛАЙДА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D6722843-AB94-E36D-B48F-D9D0BB65A1E4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334962" y="1143000"/>
            <a:ext cx="11522074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6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4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1DA58387-F5C1-97BD-0C6A-84FC025D998A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638896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132B5306-2463-5B03-DF51-36351526C717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939839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</a:t>
            </a:r>
            <a:br>
              <a:rPr lang="ru-RU"/>
            </a:br>
            <a:r>
              <a:rPr lang="ru-RU"/>
              <a:t>СЛАЙДА</a:t>
            </a:r>
            <a:br>
              <a:rPr lang="ru-RU"/>
            </a:br>
            <a:r>
              <a:rPr lang="ru-RU"/>
              <a:t>В 3 СТРОКИ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415B0444-104C-22E2-EFB4-B01364F7FB04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800" y="691200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34963" y="335624"/>
            <a:ext cx="8605836" cy="272432"/>
          </a:xfrm>
          <a:prstGeom prst="rect">
            <a:avLst/>
          </a:prstGeom>
        </p:spPr>
        <p:txBody>
          <a:bodyPr lIns="36000" tIns="14400" rIns="36000" bIns="36000">
            <a:noAutofit/>
          </a:bodyPr>
          <a:lstStyle>
            <a:lvl1pPr marL="0" indent="0">
              <a:spcBef>
                <a:spcPts val="337"/>
              </a:spcBef>
              <a:buNone/>
              <a:defRPr sz="1400" b="0">
                <a:solidFill>
                  <a:srgbClr val="004596"/>
                </a:solidFill>
                <a:latin typeface="GPN_DIN Condensed Bold"/>
                <a:ea typeface="GPN_DIN Condensed Bold"/>
              </a:defRPr>
            </a:lvl1pPr>
            <a:lvl2pPr>
              <a:defRPr sz="1050"/>
            </a:lvl2pPr>
            <a:lvl3pPr>
              <a:defRPr sz="10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/>
            </a:pPr>
            <a:r>
              <a:rPr lang="ru-RU"/>
              <a:t>НАДЗАГОЛОВОК СЛАЙДА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1BFD3349-2112-F25E-2209-A71E99ECED26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34963" y="335624"/>
            <a:ext cx="8605836" cy="272432"/>
          </a:xfrm>
          <a:prstGeom prst="rect">
            <a:avLst/>
          </a:prstGeom>
        </p:spPr>
        <p:txBody>
          <a:bodyPr lIns="36000" tIns="14400" rIns="36000" bIns="36000">
            <a:noAutofit/>
          </a:bodyPr>
          <a:lstStyle>
            <a:lvl1pPr marL="0" indent="0">
              <a:spcBef>
                <a:spcPts val="337"/>
              </a:spcBef>
              <a:buNone/>
              <a:defRPr sz="1400" b="0">
                <a:solidFill>
                  <a:srgbClr val="004596"/>
                </a:solidFill>
                <a:latin typeface="GPN_DIN Condensed Bold"/>
                <a:ea typeface="GPN_DIN Condensed Bold"/>
              </a:defRPr>
            </a:lvl1pPr>
            <a:lvl2pPr>
              <a:defRPr sz="1050"/>
            </a:lvl2pPr>
            <a:lvl3pPr>
              <a:defRPr sz="10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/>
            </a:pPr>
            <a:r>
              <a:rPr lang="ru-RU"/>
              <a:t>НАДЗАГОЛОВОК СЛАЙДА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34962" y="1082538"/>
            <a:ext cx="8599946" cy="264298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>
            <a:lvl1pPr marL="0" indent="0">
              <a:buNone/>
              <a:defRPr lang="ru-RU" sz="20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ДЕСКРИПТОР СЛАЙДА</a:t>
            </a:r>
            <a:endParaRPr/>
          </a:p>
        </p:txBody>
      </p:sp>
      <p:sp>
        <p:nvSpPr>
          <p:cNvPr id="11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800" y="691200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966" y="2341188"/>
            <a:ext cx="1799750" cy="252000"/>
          </a:xfrm>
          <a:prstGeom prst="rect">
            <a:avLst/>
          </a:prstGeom>
        </p:spPr>
        <p:txBody>
          <a:bodyPr lIns="36000" rIns="36000" bIns="252000">
            <a:noAutofit/>
          </a:bodyPr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11535234" cy="417193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В ОДНУ СТРОКУ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24"/>
          <p:cNvSpPr/>
          <p:nvPr userDrawn="1"/>
        </p:nvSpPr>
        <p:spPr bwMode="auto">
          <a:xfrm>
            <a:off x="335968" y="3675544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Text Placehold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321802" y="4087210"/>
            <a:ext cx="3758070" cy="21546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966" y="2341188"/>
            <a:ext cx="1799750" cy="252000"/>
          </a:xfrm>
          <a:prstGeom prst="rect">
            <a:avLst/>
          </a:prstGeom>
        </p:spPr>
        <p:txBody>
          <a:bodyPr lIns="36000" rIns="36000" bIns="252000">
            <a:noAutofit/>
          </a:bodyPr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11535234" cy="957567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</a:t>
            </a:r>
            <a:br>
              <a:rPr lang="ru-RU"/>
            </a:br>
            <a:r>
              <a:rPr lang="ru-RU"/>
              <a:t>В ДВЕ СТРОКИ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Straight Connector 15"/>
          <p:cNvSpPr/>
          <p:nvPr userDrawn="1"/>
        </p:nvSpPr>
        <p:spPr bwMode="auto">
          <a:xfrm>
            <a:off x="334433" y="4254499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0400" y="4741659"/>
            <a:ext cx="3758070" cy="21546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966" y="2341188"/>
            <a:ext cx="1799750" cy="252000"/>
          </a:xfrm>
          <a:prstGeom prst="rect">
            <a:avLst/>
          </a:prstGeom>
        </p:spPr>
        <p:txBody>
          <a:bodyPr lIns="36000" rIns="36000" bIns="252000">
            <a:noAutofit/>
          </a:bodyPr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5963199" cy="957567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</a:t>
            </a:r>
            <a:br>
              <a:rPr lang="ru-RU"/>
            </a:br>
            <a:r>
              <a:rPr lang="ru-RU"/>
              <a:t>В ДВЕ СТРОКИ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Straight Connector 15"/>
          <p:cNvSpPr/>
          <p:nvPr userDrawn="1"/>
        </p:nvSpPr>
        <p:spPr bwMode="auto">
          <a:xfrm>
            <a:off x="334433" y="4254499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5855368" y="-5400"/>
            <a:ext cx="6336632" cy="6868800"/>
          </a:xfrm>
          <a:custGeom>
            <a:avLst/>
            <a:gdLst>
              <a:gd name="connsiteX0" fmla="*/ 0 w 6336633"/>
              <a:gd name="connsiteY0" fmla="*/ 0 h 6857999"/>
              <a:gd name="connsiteX1" fmla="*/ 6336633 w 6336633"/>
              <a:gd name="connsiteY1" fmla="*/ 0 h 6857999"/>
              <a:gd name="connsiteX2" fmla="*/ 6336633 w 6336633"/>
              <a:gd name="connsiteY2" fmla="*/ 6857999 h 6857999"/>
              <a:gd name="connsiteX3" fmla="*/ 0 w 6336633"/>
              <a:gd name="connsiteY3" fmla="*/ 6857999 h 6857999"/>
              <a:gd name="connsiteX4" fmla="*/ 0 w 6336633"/>
              <a:gd name="connsiteY4" fmla="*/ 0 h 6857999"/>
              <a:gd name="connsiteX0" fmla="*/ 1466850 w 6336633"/>
              <a:gd name="connsiteY0" fmla="*/ 9525 h 6857999"/>
              <a:gd name="connsiteX1" fmla="*/ 6336633 w 6336633"/>
              <a:gd name="connsiteY1" fmla="*/ 0 h 6857999"/>
              <a:gd name="connsiteX2" fmla="*/ 6336633 w 6336633"/>
              <a:gd name="connsiteY2" fmla="*/ 6857999 h 6857999"/>
              <a:gd name="connsiteX3" fmla="*/ 0 w 6336633"/>
              <a:gd name="connsiteY3" fmla="*/ 6857999 h 6857999"/>
              <a:gd name="connsiteX4" fmla="*/ 1466850 w 6336633"/>
              <a:gd name="connsiteY4" fmla="*/ 952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6633" h="6857999" extrusionOk="0">
                <a:moveTo>
                  <a:pt x="1466850" y="9525"/>
                </a:moveTo>
                <a:lnTo>
                  <a:pt x="6336633" y="0"/>
                </a:lnTo>
                <a:lnTo>
                  <a:pt x="6336633" y="6857999"/>
                </a:lnTo>
                <a:lnTo>
                  <a:pt x="0" y="6857999"/>
                </a:lnTo>
                <a:lnTo>
                  <a:pt x="1466850" y="9525"/>
                </a:lnTo>
                <a:close/>
              </a:path>
            </a:pathLst>
          </a:custGeom>
        </p:spPr>
        <p:txBody>
          <a:bodyPr lIns="1692000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0400" y="4741659"/>
            <a:ext cx="3758070" cy="21546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9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11535234" cy="417193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КОНТАКТЫ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24"/>
          <p:cNvSpPr/>
          <p:nvPr userDrawn="1"/>
        </p:nvSpPr>
        <p:spPr bwMode="auto">
          <a:xfrm>
            <a:off x="335968" y="3675544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1600" y="4808995"/>
            <a:ext cx="4729990" cy="132891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ru-RU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Иван Иванов</a:t>
            </a:r>
            <a:endParaRPr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21435" y="5332353"/>
            <a:ext cx="4731050" cy="154046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ru-RU" sz="900">
                <a:latin typeface="GPN_DIN Regular"/>
                <a:ea typeface="GPN_DIN Regular"/>
              </a:rPr>
              <a:t>Управление маркетинговых коммуникаций</a:t>
            </a:r>
            <a:endParaRPr lang="en-US" sz="900" u="none" strike="noStrike" cap="none" spc="0">
              <a:ln>
                <a:noFill/>
              </a:ln>
              <a:latin typeface="GPN_DIN Regular"/>
              <a:ea typeface="GPN_DIN Regular"/>
            </a:endParaRP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21600" y="5594872"/>
            <a:ext cx="4729990" cy="140604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en-US" sz="900">
                <a:latin typeface="GPN_DIN Regular"/>
                <a:ea typeface="GPN_DIN Regular"/>
              </a:rPr>
              <a:t>XX</a:t>
            </a:r>
            <a:r>
              <a:rPr lang="ru-RU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.</a:t>
            </a:r>
            <a:r>
              <a:rPr lang="en-US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XX</a:t>
            </a:r>
            <a:r>
              <a:rPr lang="ru-RU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.20</a:t>
            </a:r>
            <a:r>
              <a:rPr lang="en-US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XX</a:t>
            </a:r>
            <a:endParaRPr lang="ru-RU" sz="900" u="none" strike="noStrike" cap="none" spc="0">
              <a:ln>
                <a:noFill/>
              </a:ln>
              <a:latin typeface="GPN_DIN Regular"/>
              <a:ea typeface="GPN_DIN Regular"/>
            </a:endParaRP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21600" y="5062723"/>
            <a:ext cx="4729990" cy="149355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en-US" sz="900">
                <a:latin typeface="GPN_DIN Regular"/>
                <a:ea typeface="GPN_DIN Regular"/>
              </a:rPr>
              <a:t>IVANOV.II@gazprom-neft.ru</a:t>
            </a:r>
            <a:endParaRPr/>
          </a:p>
          <a:p>
            <a:pPr>
              <a:lnSpc>
                <a:spcPct val="100000"/>
              </a:lnSpc>
              <a:spcBef>
                <a:spcPts val="599"/>
              </a:spcBef>
              <a:defRPr/>
            </a:pPr>
            <a:endParaRPr lang="en-US" sz="900">
              <a:latin typeface="GPN_DIN Regular"/>
              <a:ea typeface="GPN_DIN Regula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0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8B83BDAE-5C2A-F6AD-ABF4-95BCBA1062D0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184900" y="1143000"/>
            <a:ext cx="5672135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ECD75EFA-DD9E-1E32-E94F-82864792F652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4243653" y="1143000"/>
            <a:ext cx="3723478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1" name="Текст 2"/>
          <p:cNvSpPr>
            <a:spLocks noGrp="1"/>
          </p:cNvSpPr>
          <p:nvPr>
            <p:ph idx="43" hasCustomPrompt="1"/>
          </p:nvPr>
        </p:nvSpPr>
        <p:spPr bwMode="auto">
          <a:xfrm>
            <a:off x="8102599" y="1143000"/>
            <a:ext cx="3723480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2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9F2F2FB8-D503-C659-5219-0A9FA0BA3403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5239512" y="1143000"/>
            <a:ext cx="6616996" cy="221360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Текст 2"/>
          <p:cNvSpPr>
            <a:spLocks noGrp="1"/>
          </p:cNvSpPr>
          <p:nvPr>
            <p:ph idx="43" hasCustomPrompt="1"/>
          </p:nvPr>
        </p:nvSpPr>
        <p:spPr bwMode="auto">
          <a:xfrm>
            <a:off x="5239512" y="3501389"/>
            <a:ext cx="6616996" cy="221360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73599" y="772927"/>
            <a:ext cx="7838875" cy="5888716"/>
          </a:xfrm>
          <a:prstGeom prst="rect">
            <a:avLst/>
          </a:prstGeom>
        </p:spPr>
      </p:pic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468112" y="1389887"/>
            <a:ext cx="6126480" cy="34655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0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C0ED9610-1B7B-1599-1111-539E927C7DC2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1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12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1" descr="A white rectangle with a black background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rcRect b="15081"/>
          <a:stretch/>
        </p:blipFill>
        <p:spPr bwMode="auto">
          <a:xfrm>
            <a:off x="7925310" y="533332"/>
            <a:ext cx="4209300" cy="5866889"/>
          </a:xfrm>
          <a:prstGeom prst="rect">
            <a:avLst/>
          </a:prstGeom>
        </p:spPr>
      </p:pic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8284462" y="1225296"/>
            <a:ext cx="3502152" cy="478231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1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448591A9-7A6B-CFDB-4FCA-FAE52D165777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2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13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2" descr="Icon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621999" y="569985"/>
            <a:ext cx="5756829" cy="5756829"/>
          </a:xfrm>
          <a:prstGeom prst="rect">
            <a:avLst/>
          </a:prstGeom>
        </p:spPr>
      </p:pic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9423918" y="1119672"/>
            <a:ext cx="2164701" cy="46186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1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ECF3C264-D265-8B52-AC6B-7DFF1C8789E0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2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13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90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BackGroundTitleSlide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-2736" y="761"/>
            <a:ext cx="11396812" cy="6413297"/>
          </a:xfrm>
          <a:prstGeom prst="rect">
            <a:avLst/>
          </a:prstGeom>
        </p:spPr>
      </p:pic>
      <p:sp>
        <p:nvSpPr>
          <p:cNvPr id="11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92249" y="3414219"/>
            <a:ext cx="5475749" cy="1310179"/>
          </a:xfrm>
          <a:prstGeom prst="rect">
            <a:avLst/>
          </a:prstGeom>
        </p:spPr>
        <p:txBody>
          <a:bodyPr lIns="36000" tIns="36000" rIns="36000" bIns="36000" anchor="t">
            <a:noAutofit/>
          </a:bodyPr>
          <a:lstStyle>
            <a:lvl1pPr>
              <a:lnSpc>
                <a:spcPct val="80000"/>
              </a:lnSpc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Титульный лист</a:t>
            </a:r>
            <a:br>
              <a:rPr lang="ru-RU"/>
            </a:br>
            <a:r>
              <a:rPr lang="ru-RU"/>
              <a:t>Презентации</a:t>
            </a:r>
            <a:br>
              <a:rPr lang="ru-RU"/>
            </a:br>
            <a:r>
              <a:rPr lang="ru-RU"/>
              <a:t>С заголовком </a:t>
            </a:r>
            <a:br>
              <a:rPr lang="ru-RU"/>
            </a:br>
            <a:r>
              <a:rPr lang="ru-RU"/>
              <a:t>В 4 строки</a:t>
            </a:r>
            <a:endParaRPr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" name="BackGroundTitleSlide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-2736" y="761"/>
            <a:ext cx="11396812" cy="6413297"/>
          </a:xfrm>
          <a:prstGeom prst="rect">
            <a:avLst/>
          </a:prstGeom>
        </p:spPr>
      </p:pic>
      <p:sp>
        <p:nvSpPr>
          <p:cNvPr id="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76837" y="4154554"/>
            <a:ext cx="4877327" cy="736213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0" y="0"/>
            <a:ext cx="11394075" cy="6365242"/>
          </a:xfrm>
          <a:prstGeom prst="rect">
            <a:avLst/>
          </a:prstGeom>
        </p:spPr>
      </p:pic>
      <p:sp>
        <p:nvSpPr>
          <p:cNvPr id="1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76837" y="4154554"/>
            <a:ext cx="4877327" cy="736213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0" y="0"/>
            <a:ext cx="11394075" cy="6365242"/>
          </a:xfrm>
          <a:prstGeom prst="rect">
            <a:avLst/>
          </a:prstGeom>
        </p:spPr>
      </p:pic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2313" y="5201001"/>
            <a:ext cx="3505828" cy="1152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НАЗВАНИЕ СТРУКТУРНОГО ПОДРАЗДЕЛЕНИЯ</a:t>
            </a:r>
            <a:endParaRPr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32313" y="5590800"/>
            <a:ext cx="3505828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32311" y="5760620"/>
            <a:ext cx="3506400" cy="116303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en-US"/>
              <a:t>PETROV.PP@GAZPROM-NEFT.RU</a:t>
            </a:r>
            <a:endParaRPr lang="ru-RU"/>
          </a:p>
        </p:txBody>
      </p:sp>
      <p:sp>
        <p:nvSpPr>
          <p:cNvPr id="1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1199" y="6250042"/>
            <a:ext cx="3506400" cy="1152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337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2311" y="6407209"/>
            <a:ext cx="3506400" cy="116303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37"/>
              </a:spcBef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190750" y="6249600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И.О. ФАМИЛИЯ</a:t>
            </a:r>
            <a:endParaRPr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90750" y="5760620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В 2 СТРОКИ</a:t>
            </a:r>
            <a:endParaRPr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90750" y="5590537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ДОЛЖНОСТЬ</a:t>
            </a:r>
            <a:endParaRPr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190750" y="5201001"/>
            <a:ext cx="3459567" cy="1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337"/>
              </a:spcBef>
              <a:defRPr/>
            </a:pPr>
            <a:r>
              <a:rPr lang="ru-RU"/>
              <a:t>УТВЕРЖДАЮ</a:t>
            </a:r>
            <a:endParaRPr/>
          </a:p>
        </p:txBody>
      </p:sp>
      <p:sp>
        <p:nvSpPr>
          <p:cNvPr id="21" name="Straight Connector 8"/>
          <p:cNvSpPr/>
          <p:nvPr userDrawn="1"/>
        </p:nvSpPr>
        <p:spPr bwMode="auto">
          <a:xfrm>
            <a:off x="5193982" y="6200627"/>
            <a:ext cx="1802130" cy="148"/>
          </a:xfrm>
          <a:prstGeom prst="line">
            <a:avLst/>
          </a:prstGeom>
          <a:ln w="12700">
            <a:solidFill>
              <a:srgbClr val="7E7E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5176837" y="3863635"/>
            <a:ext cx="4877327" cy="736213"/>
          </a:xfrm>
          <a:prstGeom prst="rect">
            <a:avLst/>
          </a:prstGeom>
        </p:spPr>
        <p:txBody>
          <a:bodyPr lIns="36000" tIns="36000" bIns="36000" anchor="t">
            <a:noAutofit/>
          </a:bodyPr>
          <a:lstStyle>
            <a:lvl1pPr>
              <a:lnSpc>
                <a:spcPct val="80000"/>
              </a:lnSpc>
              <a:defRPr lang="ru-RU" sz="32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pPr>
              <a:defRPr/>
            </a:pPr>
            <a:r>
              <a:rPr lang="ru-RU"/>
              <a:t>ШАБЛОН</a:t>
            </a:r>
            <a:br>
              <a:rPr lang="ru-RU"/>
            </a:br>
            <a:r>
              <a:rPr lang="ru-RU"/>
              <a:t>ПРЕЗЕНТАЦИИ</a:t>
            </a:r>
            <a:endParaRPr/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490584" y="5832126"/>
            <a:ext cx="1390898" cy="755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966AAEBC-2519-8AED-62A5-F999C71E6791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5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7E909B10-1F91-7EE9-3D26-19FCA354ACEF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9C9970EF-0077-1C92-1CD6-144F52E1E00B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34962" y="716778"/>
            <a:ext cx="8599946" cy="264298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>
            <a:lvl1pPr marL="0" indent="0">
              <a:buNone/>
              <a:defRPr lang="ru-RU" sz="20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ДЕСКРИПТОР СЛАЙДА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733ECC65-7131-E46E-FC52-1058C93AC6BC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334962" y="1143000"/>
            <a:ext cx="11522074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6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4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E783F75C-51F1-6157-3A40-27A1774792B8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638896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61DDD777-B6CD-DF52-95AF-FC0AC4A9AD53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939839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</a:t>
            </a:r>
            <a:br>
              <a:rPr lang="ru-RU"/>
            </a:br>
            <a:r>
              <a:rPr lang="ru-RU"/>
              <a:t>СЛАЙДА</a:t>
            </a:r>
            <a:br>
              <a:rPr lang="ru-RU"/>
            </a:br>
            <a:r>
              <a:rPr lang="ru-RU"/>
              <a:t>В 3 СТРОКИ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89B5DA39-930B-A267-AF65-C831140CE195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5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800" y="691200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34963" y="335624"/>
            <a:ext cx="8605836" cy="272432"/>
          </a:xfrm>
          <a:prstGeom prst="rect">
            <a:avLst/>
          </a:prstGeom>
        </p:spPr>
        <p:txBody>
          <a:bodyPr lIns="36000" tIns="14400" rIns="36000" bIns="36000">
            <a:noAutofit/>
          </a:bodyPr>
          <a:lstStyle>
            <a:lvl1pPr marL="0" indent="0">
              <a:spcBef>
                <a:spcPts val="337"/>
              </a:spcBef>
              <a:buNone/>
              <a:defRPr sz="1400" b="0">
                <a:solidFill>
                  <a:srgbClr val="004596"/>
                </a:solidFill>
                <a:latin typeface="GPN_DIN Condensed Bold"/>
                <a:ea typeface="GPN_DIN Condensed Bold"/>
              </a:defRPr>
            </a:lvl1pPr>
            <a:lvl2pPr>
              <a:defRPr sz="1050"/>
            </a:lvl2pPr>
            <a:lvl3pPr>
              <a:defRPr sz="10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/>
            </a:pPr>
            <a:r>
              <a:rPr lang="ru-RU"/>
              <a:t>НАДЗАГОЛОВОК СЛАЙДА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3293BDC8-556C-9890-E5B1-DFA22F1F0EDD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34963" y="335624"/>
            <a:ext cx="8605836" cy="272432"/>
          </a:xfrm>
          <a:prstGeom prst="rect">
            <a:avLst/>
          </a:prstGeom>
        </p:spPr>
        <p:txBody>
          <a:bodyPr lIns="36000" tIns="14400" rIns="36000" bIns="36000">
            <a:noAutofit/>
          </a:bodyPr>
          <a:lstStyle>
            <a:lvl1pPr marL="0" indent="0">
              <a:spcBef>
                <a:spcPts val="337"/>
              </a:spcBef>
              <a:buNone/>
              <a:defRPr sz="1400" b="0">
                <a:solidFill>
                  <a:srgbClr val="004596"/>
                </a:solidFill>
                <a:latin typeface="GPN_DIN Condensed Bold"/>
                <a:ea typeface="GPN_DIN Condensed Bold"/>
              </a:defRPr>
            </a:lvl1pPr>
            <a:lvl2pPr>
              <a:defRPr sz="1050"/>
            </a:lvl2pPr>
            <a:lvl3pPr>
              <a:defRPr sz="1050"/>
            </a:lvl3pPr>
            <a:lvl4pPr>
              <a:defRPr sz="1200"/>
            </a:lvl4pPr>
            <a:lvl5pPr>
              <a:defRPr sz="1200"/>
            </a:lvl5pPr>
          </a:lstStyle>
          <a:p>
            <a:pPr lvl="0">
              <a:defRPr/>
            </a:pPr>
            <a:r>
              <a:rPr lang="ru-RU"/>
              <a:t>НАДЗАГОЛОВОК СЛАЙДА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334962" y="1082538"/>
            <a:ext cx="8599946" cy="264298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>
            <a:lvl1pPr marL="0" indent="0">
              <a:buNone/>
              <a:defRPr lang="ru-RU" sz="2000" b="0" i="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/>
              <a:t>ДЕСКРИПТОР СЛАЙДА</a:t>
            </a:r>
            <a:endParaRPr/>
          </a:p>
        </p:txBody>
      </p:sp>
      <p:sp>
        <p:nvSpPr>
          <p:cNvPr id="11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800" y="691200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966" y="2341188"/>
            <a:ext cx="1799750" cy="252000"/>
          </a:xfrm>
          <a:prstGeom prst="rect">
            <a:avLst/>
          </a:prstGeom>
        </p:spPr>
        <p:txBody>
          <a:bodyPr lIns="36000" rIns="36000" bIns="252000">
            <a:noAutofit/>
          </a:bodyPr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11535234" cy="417193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В ОДНУ СТРОКУ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24"/>
          <p:cNvSpPr/>
          <p:nvPr userDrawn="1"/>
        </p:nvSpPr>
        <p:spPr bwMode="auto">
          <a:xfrm>
            <a:off x="335968" y="3675544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Text Placeholder 4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321802" y="4087210"/>
            <a:ext cx="3758070" cy="21546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966" y="2341188"/>
            <a:ext cx="1799750" cy="252000"/>
          </a:xfrm>
          <a:prstGeom prst="rect">
            <a:avLst/>
          </a:prstGeom>
        </p:spPr>
        <p:txBody>
          <a:bodyPr lIns="36000" rIns="36000" bIns="252000">
            <a:noAutofit/>
          </a:bodyPr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11535234" cy="957567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</a:t>
            </a:r>
            <a:br>
              <a:rPr lang="ru-RU"/>
            </a:br>
            <a:r>
              <a:rPr lang="ru-RU"/>
              <a:t>В ДВЕ СТРОКИ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Straight Connector 15"/>
          <p:cNvSpPr/>
          <p:nvPr userDrawn="1"/>
        </p:nvSpPr>
        <p:spPr bwMode="auto">
          <a:xfrm>
            <a:off x="334433" y="4254499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0400" y="4741659"/>
            <a:ext cx="3758070" cy="21546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966" y="2341188"/>
            <a:ext cx="1799750" cy="252000"/>
          </a:xfrm>
          <a:prstGeom prst="rect">
            <a:avLst/>
          </a:prstGeom>
        </p:spPr>
        <p:txBody>
          <a:bodyPr lIns="36000" rIns="36000" bIns="252000">
            <a:noAutofit/>
          </a:bodyPr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РАЗДЕЛ 01</a:t>
            </a:r>
            <a:endParaRPr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5963199" cy="957567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НАЗВАНИЕ РАЗДЕЛА </a:t>
            </a:r>
            <a:br>
              <a:rPr lang="ru-RU"/>
            </a:br>
            <a:r>
              <a:rPr lang="ru-RU"/>
              <a:t>В ДВЕ СТРОКИ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Straight Connector 15"/>
          <p:cNvSpPr/>
          <p:nvPr userDrawn="1"/>
        </p:nvSpPr>
        <p:spPr bwMode="auto">
          <a:xfrm>
            <a:off x="334433" y="4254499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5855368" y="-5400"/>
            <a:ext cx="6336632" cy="6868800"/>
          </a:xfrm>
          <a:custGeom>
            <a:avLst/>
            <a:gdLst>
              <a:gd name="connsiteX0" fmla="*/ 0 w 6336633"/>
              <a:gd name="connsiteY0" fmla="*/ 0 h 6857999"/>
              <a:gd name="connsiteX1" fmla="*/ 6336633 w 6336633"/>
              <a:gd name="connsiteY1" fmla="*/ 0 h 6857999"/>
              <a:gd name="connsiteX2" fmla="*/ 6336633 w 6336633"/>
              <a:gd name="connsiteY2" fmla="*/ 6857999 h 6857999"/>
              <a:gd name="connsiteX3" fmla="*/ 0 w 6336633"/>
              <a:gd name="connsiteY3" fmla="*/ 6857999 h 6857999"/>
              <a:gd name="connsiteX4" fmla="*/ 0 w 6336633"/>
              <a:gd name="connsiteY4" fmla="*/ 0 h 6857999"/>
              <a:gd name="connsiteX0" fmla="*/ 1466850 w 6336633"/>
              <a:gd name="connsiteY0" fmla="*/ 9525 h 6857999"/>
              <a:gd name="connsiteX1" fmla="*/ 6336633 w 6336633"/>
              <a:gd name="connsiteY1" fmla="*/ 0 h 6857999"/>
              <a:gd name="connsiteX2" fmla="*/ 6336633 w 6336633"/>
              <a:gd name="connsiteY2" fmla="*/ 6857999 h 6857999"/>
              <a:gd name="connsiteX3" fmla="*/ 0 w 6336633"/>
              <a:gd name="connsiteY3" fmla="*/ 6857999 h 6857999"/>
              <a:gd name="connsiteX4" fmla="*/ 1466850 w 6336633"/>
              <a:gd name="connsiteY4" fmla="*/ 952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6633" h="6857999" extrusionOk="0">
                <a:moveTo>
                  <a:pt x="1466850" y="9525"/>
                </a:moveTo>
                <a:lnTo>
                  <a:pt x="6336633" y="0"/>
                </a:lnTo>
                <a:lnTo>
                  <a:pt x="6336633" y="6857999"/>
                </a:lnTo>
                <a:lnTo>
                  <a:pt x="0" y="6857999"/>
                </a:lnTo>
                <a:lnTo>
                  <a:pt x="1466850" y="9525"/>
                </a:lnTo>
                <a:close/>
              </a:path>
            </a:pathLst>
          </a:custGeom>
        </p:spPr>
        <p:txBody>
          <a:bodyPr lIns="1692000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0400" y="4741659"/>
            <a:ext cx="3758070" cy="21546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buNone/>
              <a:defRPr lang="ru-RU" sz="2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+mj-lt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АННОТАЦИЯ К РАЗДЕЛУ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9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35999" y="3090646"/>
            <a:ext cx="11535234" cy="417193"/>
          </a:xfrm>
          <a:prstGeom prst="rect">
            <a:avLst/>
          </a:prstGeom>
        </p:spPr>
        <p:txBody>
          <a:bodyPr lIns="36000" rIns="3600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КОНТАКТЫ</a:t>
            </a:r>
            <a:endParaRPr/>
          </a:p>
        </p:txBody>
      </p:sp>
      <p:sp>
        <p:nvSpPr>
          <p:cNvPr id="11" name="Straight Connector 14"/>
          <p:cNvSpPr/>
          <p:nvPr userDrawn="1"/>
        </p:nvSpPr>
        <p:spPr bwMode="auto">
          <a:xfrm>
            <a:off x="335968" y="2922942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24"/>
          <p:cNvSpPr/>
          <p:nvPr userDrawn="1"/>
        </p:nvSpPr>
        <p:spPr bwMode="auto">
          <a:xfrm>
            <a:off x="335968" y="3675544"/>
            <a:ext cx="675870" cy="0"/>
          </a:xfrm>
          <a:prstGeom prst="line">
            <a:avLst/>
          </a:prstGeom>
          <a:ln w="57150">
            <a:solidFill>
              <a:srgbClr val="0045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21600" y="4808995"/>
            <a:ext cx="4729990" cy="132891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ru-RU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Иван Иванов</a:t>
            </a:r>
            <a:endParaRPr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21435" y="5332353"/>
            <a:ext cx="4731050" cy="154046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ru-RU" sz="900">
                <a:latin typeface="GPN_DIN Regular"/>
                <a:ea typeface="GPN_DIN Regular"/>
              </a:rPr>
              <a:t>Управление маркетинговых коммуникаций</a:t>
            </a:r>
            <a:endParaRPr lang="en-US" sz="900" u="none" strike="noStrike" cap="none" spc="0">
              <a:ln>
                <a:noFill/>
              </a:ln>
              <a:latin typeface="GPN_DIN Regular"/>
              <a:ea typeface="GPN_DIN Regular"/>
            </a:endParaRP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21600" y="5594872"/>
            <a:ext cx="4729990" cy="140604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en-US" sz="900">
                <a:latin typeface="GPN_DIN Regular"/>
                <a:ea typeface="GPN_DIN Regular"/>
              </a:rPr>
              <a:t>XX</a:t>
            </a:r>
            <a:r>
              <a:rPr lang="ru-RU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.</a:t>
            </a:r>
            <a:r>
              <a:rPr lang="en-US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XX</a:t>
            </a:r>
            <a:r>
              <a:rPr lang="ru-RU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.20</a:t>
            </a:r>
            <a:r>
              <a:rPr lang="en-US" sz="900" u="none" strike="noStrike" cap="none" spc="0">
                <a:ln>
                  <a:noFill/>
                </a:ln>
                <a:latin typeface="GPN_DIN Regular"/>
                <a:ea typeface="GPN_DIN Regular"/>
              </a:rPr>
              <a:t>XX</a:t>
            </a:r>
            <a:endParaRPr lang="ru-RU" sz="900" u="none" strike="noStrike" cap="none" spc="0">
              <a:ln>
                <a:noFill/>
              </a:ln>
              <a:latin typeface="GPN_DIN Regular"/>
              <a:ea typeface="GPN_DIN Regular"/>
            </a:endParaRP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21600" y="5062723"/>
            <a:ext cx="4729990" cy="149355"/>
          </a:xfrm>
          <a:prstGeom prst="rect">
            <a:avLst/>
          </a:prstGeom>
          <a:ln>
            <a:noFill/>
          </a:ln>
        </p:spPr>
        <p:txBody>
          <a:bodyPr vert="horz" lIns="36000" tIns="36000" rIns="36000" bIns="3600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lang="en-US" sz="1200" b="0" i="0" cap="none">
                <a:solidFill>
                  <a:srgbClr val="004596"/>
                </a:solidFill>
                <a:latin typeface="GPN_DIN Regular"/>
                <a:ea typeface="GPN_DIN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lnSpc>
                <a:spcPct val="100000"/>
              </a:lnSpc>
              <a:spcBef>
                <a:spcPts val="599"/>
              </a:spcBef>
              <a:defRPr/>
            </a:pPr>
            <a:r>
              <a:rPr lang="en-US" sz="900">
                <a:latin typeface="GPN_DIN Regular"/>
                <a:ea typeface="GPN_DIN Regular"/>
              </a:rPr>
              <a:t>IVANOV.II@gazprom-neft.ru</a:t>
            </a:r>
            <a:endParaRPr/>
          </a:p>
          <a:p>
            <a:pPr>
              <a:lnSpc>
                <a:spcPct val="100000"/>
              </a:lnSpc>
              <a:spcBef>
                <a:spcPts val="599"/>
              </a:spcBef>
              <a:defRPr/>
            </a:pPr>
            <a:endParaRPr lang="en-US" sz="900">
              <a:latin typeface="GPN_DIN Regular"/>
              <a:ea typeface="GPN_DIN Regular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0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60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076CCF1D-7846-9B91-A0AF-23B7808E0F60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12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184900" y="1143000"/>
            <a:ext cx="5672135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87A9E7A1-95D3-C657-DA8A-3C0698D7244C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4243653" y="1143000"/>
            <a:ext cx="3723478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1" name="Текст 2"/>
          <p:cNvSpPr>
            <a:spLocks noGrp="1"/>
          </p:cNvSpPr>
          <p:nvPr>
            <p:ph idx="43" hasCustomPrompt="1"/>
          </p:nvPr>
        </p:nvSpPr>
        <p:spPr bwMode="auto">
          <a:xfrm>
            <a:off x="8102599" y="1143000"/>
            <a:ext cx="3723480" cy="4733923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2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9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E546DB09-7CB2-E210-8222-90B0AC06D6E0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6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5239512" y="1143000"/>
            <a:ext cx="6616996" cy="221360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8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Текст 2"/>
          <p:cNvSpPr>
            <a:spLocks noGrp="1"/>
          </p:cNvSpPr>
          <p:nvPr>
            <p:ph idx="43" hasCustomPrompt="1"/>
          </p:nvPr>
        </p:nvSpPr>
        <p:spPr bwMode="auto">
          <a:xfrm>
            <a:off x="5239512" y="3501389"/>
            <a:ext cx="6616996" cy="2213609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>
            <a:lvl1pPr marL="0" indent="0">
              <a:buNone/>
              <a:defRPr sz="1400">
                <a:latin typeface="GPN_DIN Regular"/>
                <a:ea typeface="GPN_DIN Regular"/>
              </a:defRPr>
            </a:lvl1pPr>
            <a:lvl2pPr marL="180974" indent="-180974">
              <a:buClr>
                <a:srgbClr val="00D6D2"/>
              </a:buClr>
              <a:buFont typeface="Wingdings"/>
              <a:buChar char="§"/>
              <a:defRPr sz="1200">
                <a:latin typeface="GPN_DIN Regular"/>
                <a:ea typeface="GPN_DIN Regular"/>
              </a:defRPr>
            </a:lvl2pPr>
            <a:lvl3pPr marL="360362" indent="-182562">
              <a:buClr>
                <a:srgbClr val="00478D"/>
              </a:buClr>
              <a:buFont typeface="Wingdings"/>
              <a:buChar char="§"/>
              <a:defRPr sz="1000">
                <a:latin typeface="GPN_DIN Regular"/>
                <a:ea typeface="GPN_DIN Regular"/>
              </a:defRPr>
            </a:lvl3pPr>
            <a:lvl4pPr>
              <a:defRPr>
                <a:latin typeface="GPN_DIN Regular"/>
                <a:ea typeface="GPN_DIN Regular"/>
              </a:defRPr>
            </a:lvl4pPr>
            <a:lvl5pPr>
              <a:defRPr>
                <a:latin typeface="GPN_DIN Regular"/>
                <a:ea typeface="GPN_DIN Regular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 lang="en-US"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73599" y="772927"/>
            <a:ext cx="7838875" cy="5888716"/>
          </a:xfrm>
          <a:prstGeom prst="rect">
            <a:avLst/>
          </a:prstGeom>
        </p:spPr>
      </p:pic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468112" y="1389887"/>
            <a:ext cx="6126480" cy="34655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0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7EA0F8CF-A0A7-8397-0922-0EFE183EECE2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1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12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1" descr="A white rectangle with a black background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rcRect b="15081"/>
          <a:stretch/>
        </p:blipFill>
        <p:spPr bwMode="auto">
          <a:xfrm>
            <a:off x="7925310" y="533332"/>
            <a:ext cx="4209300" cy="5866889"/>
          </a:xfrm>
          <a:prstGeom prst="rect">
            <a:avLst/>
          </a:prstGeom>
        </p:spPr>
      </p:pic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8284462" y="1225296"/>
            <a:ext cx="3502152" cy="478231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1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F42F26EA-C89A-FA5B-E79D-E46FE4114331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2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13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2" descr="Icon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621999" y="569985"/>
            <a:ext cx="5756829" cy="5756829"/>
          </a:xfrm>
          <a:prstGeom prst="rect">
            <a:avLst/>
          </a:prstGeom>
        </p:spPr>
      </p:pic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9423918" y="1119672"/>
            <a:ext cx="2164701" cy="46186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>
                <a:latin typeface="GPN_DIN Regular"/>
                <a:ea typeface="GPN_DIN Regular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432" y="6200775"/>
            <a:ext cx="7632698" cy="315140"/>
          </a:xfrm>
          <a:prstGeom prst="rect">
            <a:avLst/>
          </a:prstGeom>
        </p:spPr>
        <p:txBody>
          <a:bodyPr lIns="36000" tIns="396000" rIns="36000" bIns="36000" anchor="b" anchorCtr="0"/>
          <a:lstStyle>
            <a:lvl1pPr marL="0" indent="0">
              <a:buNone/>
              <a:defRPr lang="ru-RU" sz="800" b="0" i="0" cap="none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Нижний колонтитул</a:t>
            </a:r>
            <a:endParaRPr/>
          </a:p>
        </p:txBody>
      </p:sp>
      <p:sp>
        <p:nvSpPr>
          <p:cNvPr id="11" name="Номер слайда 3"/>
          <p:cNvSpPr txBox="1"/>
          <p:nvPr userDrawn="1"/>
        </p:nvSpPr>
        <p:spPr bwMode="auto">
          <a:xfrm>
            <a:off x="9083674" y="6200775"/>
            <a:ext cx="2773362" cy="323849"/>
          </a:xfrm>
          <a:prstGeom prst="rect">
            <a:avLst/>
          </a:prstGeom>
        </p:spPr>
        <p:txBody>
          <a:bodyPr vert="horz" lIns="36000" tIns="248400" rIns="36000" bIns="36000" rtlCol="0" anchor="ctr"/>
          <a:lstStyle>
            <a:defPPr>
              <a:defRPr lang="ru-RU"/>
            </a:defPPr>
            <a:lvl1pPr marL="0" marR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ru-RU" sz="800" b="0" i="0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ГАЗПРОМ НЕФТЬ   </a:t>
            </a:r>
            <a:fld id="{EDEAF8B0-0D08-01C4-43CA-4EBA76347726}" type="slidenum">
              <a:rPr lang="ru-RU" sz="900" b="0" i="0" u="none" strike="noStrike" cap="none" spc="0">
                <a:ln>
                  <a:noFill/>
                </a:ln>
                <a:solidFill>
                  <a:srgbClr val="7E7E7E"/>
                </a:solidFill>
                <a:latin typeface="GPN_DIN Condensed Regular"/>
                <a:ea typeface="GPN_DIN Condensed Regular"/>
                <a:cs typeface="Arial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E"/>
              </a:solidFill>
              <a:latin typeface="GPN_DIN Condensed Regular"/>
              <a:ea typeface="GPN_DIN Condensed Regular"/>
              <a:cs typeface="Arial"/>
            </a:endParaRPr>
          </a:p>
        </p:txBody>
      </p:sp>
      <p:sp>
        <p:nvSpPr>
          <p:cNvPr id="12" name="Текст 12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83674" y="333374"/>
            <a:ext cx="2772831" cy="338816"/>
          </a:xfrm>
          <a:prstGeom prst="rect">
            <a:avLst/>
          </a:prstGeom>
        </p:spPr>
        <p:txBody>
          <a:bodyPr vert="horz" lIns="36000" tIns="36000" rIns="36000" bIns="36000" rtlCol="0" anchor="t" anchorCtr="0"/>
          <a:lstStyle>
            <a:lvl1pPr marL="0" indent="0" algn="r">
              <a:buNone/>
              <a:defRPr lang="ru-RU" sz="900" b="0" i="0">
                <a:solidFill>
                  <a:schemeClr val="bg1">
                    <a:lumMod val="50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lvl="0" algn="r" defTabSz="914400">
              <a:defRPr/>
            </a:pPr>
            <a:r>
              <a:rPr lang="ru-RU"/>
              <a:t>НАВИГАЦИЯ СЛАЙДА</a:t>
            </a:r>
            <a:endParaRPr/>
          </a:p>
        </p:txBody>
      </p:sp>
      <p:sp>
        <p:nvSpPr>
          <p:cNvPr id="13" name="Заголовок 5"/>
          <p:cNvSpPr>
            <a:spLocks noGrp="1"/>
          </p:cNvSpPr>
          <p:nvPr>
            <p:ph type="title" hasCustomPrompt="1"/>
          </p:nvPr>
        </p:nvSpPr>
        <p:spPr bwMode="auto">
          <a:xfrm>
            <a:off x="334964" y="333374"/>
            <a:ext cx="8605836" cy="338816"/>
          </a:xfrm>
          <a:prstGeom prst="rect">
            <a:avLst/>
          </a:prstGeom>
        </p:spPr>
        <p:txBody>
          <a:bodyPr lIns="36000" tIns="36000" rIns="36000" bIns="324000"/>
          <a:lstStyle>
            <a:lvl1pPr>
              <a:defRPr sz="2400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D6F7AD-A2E9-21D3-D460-DBAA34A3081D}" type="datetimeFigureOut">
              <a:rPr lang="ru-RU"/>
              <a:t>17.09.2026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ABD7C9-35AD-AA7F-AC8C-6439535DE29A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96" r:id="rId24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055442B-F431-71BA-4089-29F3783D9F21}" type="datetimeFigureOut">
              <a:rPr lang="ru-RU"/>
              <a:t>17.09.2026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09FEE4-D0EB-F3C3-6D0B-5CEB76A2519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75504" y="4151376"/>
            <a:ext cx="62819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>
                <a:solidFill>
                  <a:srgbClr val="7E7E7E"/>
                </a:solidFill>
                <a:latin typeface="GPN_DIN Condensed Medium"/>
                <a:cs typeface="GPN_DIN Condensed Medium"/>
              </a:rPr>
              <a:t>АВТОМАТИЧЕСКИЙ</a:t>
            </a:r>
          </a:p>
          <a:p>
            <a:pPr algn="l"/>
            <a:r>
              <a:rPr sz="3200" b="0">
                <a:solidFill>
                  <a:srgbClr val="7E7E7E"/>
                </a:solidFill>
                <a:latin typeface="GPN_DIN Condensed Medium"/>
                <a:cs typeface="GPN_DIN Condensed Medium"/>
              </a:rPr>
              <a:t>ИИ-РЕВЬЮЕР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5129784"/>
            <a:ext cx="628192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7E7E7E"/>
                </a:solidFill>
                <a:latin typeface="GPN_DIN Condensed Medium"/>
                <a:cs typeface="GPN_DIN Condensed Medium"/>
              </a:rPr>
              <a:t>PULL REQUEST'ОВ В AZURE 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558698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Фамилия И.О.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6254496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6409944"/>
            <a:ext cx="3511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v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ОПИСАНИЕ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868680"/>
            <a:ext cx="574243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3F86"/>
                </a:solidFill>
                <a:latin typeface="GPN_DIN Regular"/>
                <a:cs typeface="GPN_DIN Regular"/>
              </a:rPr>
              <a:t>ПРОБЛЕМА: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  Первичное ревью pull request'ов — рутина. Инженеры вручную разбирают diff и ищут логические ошибки в SQL/скриптах Greenplum, ClickHouse, PostgreSQL и Airflow.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856231"/>
            <a:ext cx="574243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3F86"/>
                </a:solidFill>
                <a:latin typeface="GPN_DIN Regular"/>
                <a:cs typeface="GPN_DIN Regular"/>
              </a:rPr>
              <a:t>ЦЕЛЬ: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  Автоматически находить открытые PR, собирать изменения и контекст, передавать локальной LLM и публиковать структурированное ревью комментарием в PR.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2843784"/>
            <a:ext cx="574243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3F86"/>
                </a:solidFill>
                <a:latin typeface="GPN_DIN Regular"/>
                <a:cs typeface="GPN_DIN Regular"/>
              </a:rPr>
              <a:t>ГИПОТЕЗА: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  Локальная LLM с полным содержимым файла и историей коммитов даёт полезный «второй взгляд» на корректность изменений без внешних сервисов.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7336" y="868680"/>
            <a:ext cx="574243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3F86"/>
                </a:solidFill>
                <a:latin typeface="GPN_DIN Regular"/>
                <a:cs typeface="GPN_DIN Regular"/>
              </a:rPr>
              <a:t>ЗАДАЧИ: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1. Сбор открытых PR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2. Diff + контекст истории файлов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3. Батчевое ревью LLM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4. Публикация комментария в PR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" y="4023360"/>
            <a:ext cx="11777472" cy="7223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8229600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Фамилия И.О.</a:t>
            </a:r>
            <a:r>
              <a:rPr sz="1200" b="0">
                <a:solidFill>
                  <a:srgbClr val="FFFFFF"/>
                </a:solidFill>
                <a:latin typeface="GPN_DIN Regular"/>
                <a:cs typeface="GPN_DIN Regular"/>
              </a:rPr>
              <a:t>   ·   Роль / должность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GPN_DIN Regular"/>
                <a:cs typeface="GPN_DIN Regular"/>
              </a:rPr>
              <a:t>АВТОР ИДЕИ И РЕАЛИЗАТОР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КРАТКИЕ РЕЗУЛЬТАТЫ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868680"/>
            <a:ext cx="11759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Полностью локальный пайплайн: Azure DevOps Server → LiteLLM-шлюз → локальная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828800"/>
            <a:ext cx="3828318" cy="23774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2057400"/>
            <a:ext cx="36454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003F86"/>
                </a:solidFill>
                <a:latin typeface="GPN_DIN Regular"/>
                <a:cs typeface="GPN_DIN Regula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429000"/>
            <a:ext cx="35539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типов кодовых баз: Greenplum, ClickHouse, PostgreSQL, Airflow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3806" y="1828800"/>
            <a:ext cx="3828318" cy="23774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95246" y="2057400"/>
            <a:ext cx="36454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2E8B57"/>
                </a:solidFill>
                <a:latin typeface="GPN_DIN Regular"/>
                <a:cs typeface="GPN_DIN Regular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0966" y="3429000"/>
            <a:ext cx="35539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внешних сервисов — всё внутри корпоративного контура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9193" y="1828800"/>
            <a:ext cx="3828318" cy="23774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0633" y="2057400"/>
            <a:ext cx="364543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E88E1A"/>
                </a:solidFill>
                <a:latin typeface="GPN_DIN Regular"/>
                <a:cs typeface="GPN_DIN Regular"/>
              </a:rPr>
              <a:t>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6353" y="3429000"/>
            <a:ext cx="355399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автотест покрывает чистую логику пайплайна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4480560"/>
            <a:ext cx="5760720" cy="155448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PN_DIN Regular"/>
                <a:cs typeface="GPN_DIN Regular"/>
              </a:rPr>
              <a:t>ЭФФЕКТ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5440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Снятие рутины первичного ревью и ускорение прохождения PR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4480560"/>
            <a:ext cx="5760720" cy="1554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57200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GPN_DIN Regular"/>
                <a:cs typeface="GPN_DIN Regular"/>
              </a:rPr>
              <a:t>ЭФФЕКТЫ ВНЕДРЕНИЯ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37760"/>
            <a:ext cx="5440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GPN_DIN Regular"/>
                <a:cs typeface="GPN_DIN Regular"/>
              </a:rPr>
              <a:t>• Мульти-проектность и мульти-репозиторность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GPN_DIN Regular"/>
                <a:cs typeface="GPN_DIN Regular"/>
              </a:rPr>
              <a:t>• Свой промпт под каждый тип кодовой базы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GPN_DIN Regular"/>
                <a:cs typeface="GPN_DIN Regular"/>
              </a:rPr>
              <a:t>• Dedup без дублей при повторных запусках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ИСХОДНЫЕ ДАННЫЕ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8328" y="1005840"/>
            <a:ext cx="164592" cy="50292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1594592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42416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3F86"/>
                </a:solidFill>
                <a:latin typeface="GPN_DIN Regular"/>
                <a:cs typeface="GPN_DIN Regular"/>
              </a:rPr>
              <a:t>Azure DevOps Server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71016"/>
            <a:ext cx="11338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Открытые PR, diff изменений, история коммитов, связанные work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645920"/>
            <a:ext cx="164592" cy="50292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11594592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A80D0"/>
                </a:solidFill>
                <a:latin typeface="GPN_DIN Regular"/>
                <a:cs typeface="GPN_DIN Regular"/>
              </a:rPr>
              <a:t>Промпты по типам кодовых баз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5"/>
            <a:ext cx="11338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5 файлов .md: Greenplum, ClickHouse, PostgreSQL, Airflow ETL, оркестрация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286000"/>
            <a:ext cx="164592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286000"/>
            <a:ext cx="11594592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6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  <a:latin typeface="GPN_DIN Regular"/>
                <a:cs typeface="GPN_DIN Regular"/>
              </a:rPr>
              <a:t>Локальная LLM (LiteLLM)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51176"/>
            <a:ext cx="11338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qwen3:latest · ~30k токенов контекста · OpenAI-совместимый интерфейс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017520"/>
            <a:ext cx="117591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3F86"/>
                </a:solidFill>
                <a:latin typeface="GPN_DIN Regular"/>
                <a:cs typeface="GPN_DIN Regular"/>
              </a:rPr>
              <a:t>ПРОФИЛЬ ЗАДАЧИ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3429000"/>
            <a:ext cx="3657600" cy="3657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429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6 репозиториев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8" y="3429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GPN_DIN Regular"/>
                <a:cs typeface="GPN_DIN Regular"/>
              </a:rPr>
              <a:t>в 2 проектах ALM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8086" y="3429000"/>
            <a:ext cx="3657600" cy="3657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5246" y="3429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~30k токенов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4006" y="3429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GPN_DIN Regular"/>
                <a:cs typeface="GPN_DIN Regular"/>
              </a:rPr>
              <a:t>лимит контекста модели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7844" y="3429000"/>
            <a:ext cx="3657600" cy="3657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5004" y="3429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5 коммитов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3764" y="3429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GPN_DIN Regular"/>
                <a:cs typeface="GPN_DIN Regular"/>
              </a:rPr>
              <a:t>история каждого файла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069080"/>
            <a:ext cx="117591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3F86"/>
                </a:solidFill>
                <a:latin typeface="GPN_DIN Regular"/>
                <a:cs typeface="GPN_DIN Regular"/>
              </a:rPr>
              <a:t>СЛОЖНОСТИ И КАК С НИМИ СПРАВИЛИСЬ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" y="4480560"/>
            <a:ext cx="3840480" cy="1417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3F86"/>
                </a:solidFill>
                <a:latin typeface="GPN_DIN Regular"/>
                <a:cs typeface="GPN_DIN Regular"/>
              </a:rPr>
              <a:t>Контекст ~30k токенов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828032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GPN_DIN Regular"/>
                <a:cs typeface="GPN_DIN Regular"/>
              </a:rPr>
              <a:t>Один большой PR переполняет окно контекста модели.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54406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950" b="0">
                <a:solidFill>
                  <a:srgbClr val="222222"/>
                </a:solidFill>
                <a:latin typeface="GPN_DIN Regular"/>
                <a:cs typeface="GPN_DIN Regular"/>
              </a:rPr>
              <a:t>Батчевание: PR режется на части по ~8–10k токенов.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480560"/>
            <a:ext cx="3840480" cy="1417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3F86"/>
                </a:solidFill>
                <a:latin typeface="GPN_DIN Regular"/>
                <a:cs typeface="GPN_DIN Regular"/>
              </a:rPr>
              <a:t>Модель не видит весь код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828032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GPN_DIN Regular"/>
                <a:cs typeface="GPN_DIN Regular"/>
              </a:rPr>
              <a:t>По фрагментам diff модель пишет «нет всего кода».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4406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950" b="0">
                <a:solidFill>
                  <a:srgbClr val="222222"/>
                </a:solidFill>
                <a:latin typeface="GPN_DIN Regular"/>
                <a:cs typeface="GPN_DIN Regular"/>
              </a:rPr>
              <a:t>В промпт кладётся полное содержимое файла + diff.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7031" y="4480560"/>
            <a:ext cx="3840480" cy="14173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48471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3F86"/>
                </a:solidFill>
                <a:latin typeface="GPN_DIN Regular"/>
                <a:cs typeface="GPN_DIN Regular"/>
              </a:rPr>
              <a:t>Повторные запуски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4828032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GPN_DIN Regular"/>
                <a:cs typeface="GPN_DIN Regular"/>
              </a:rPr>
              <a:t>Повторный прогон создаёт дубли комментариев.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54406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950" b="0">
                <a:solidFill>
                  <a:srgbClr val="222222"/>
                </a:solidFill>
                <a:latin typeface="GPN_DIN Regular"/>
                <a:cs typeface="GPN_DIN Regular"/>
              </a:rPr>
              <a:t>Dedup по маркеру проверяется до вызова LLM.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ПОЧЕМУ ОДНОГО DIFF НЕДОСТАТОЧНО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868680"/>
            <a:ext cx="11759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Модель корректна только когда видит весь файл и контекст — иначе она ошибается или тратит вызовы впустую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417320"/>
            <a:ext cx="2816352" cy="1874519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55448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PN_DIN Regular"/>
                <a:cs typeface="GPN_DIN Regular"/>
              </a:rPr>
              <a:t>12 000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286000"/>
            <a:ext cx="254203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символов — полное содержимое одного 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88036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PN_DIN Regular"/>
                <a:cs typeface="GPN_DIN Regular"/>
              </a:rPr>
              <a:t>MAX_CHANGE_CHARS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417320"/>
            <a:ext cx="2816352" cy="1874519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55448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PN_DIN Regular"/>
                <a:cs typeface="GPN_DIN Regular"/>
              </a:rPr>
              <a:t>2 000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286000"/>
            <a:ext cx="254203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символов — блок изменённых строк (diff)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88036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PN_DIN Regular"/>
                <a:cs typeface="GPN_DIN Regular"/>
              </a:rPr>
              <a:t>MAX_DIFF_CHARS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417320"/>
            <a:ext cx="2816352" cy="1874519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5" y="155448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PN_DIN Regular"/>
                <a:cs typeface="GPN_DIN Regular"/>
              </a:rPr>
              <a:t>30 000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286000"/>
            <a:ext cx="254203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символов — размер одного батча (~8–10k токенов)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88036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PN_DIN Regular"/>
                <a:cs typeface="GPN_DIN Regular"/>
              </a:rPr>
              <a:t>MAX_BATCH_CHARS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417320"/>
            <a:ext cx="2816352" cy="1874519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554480"/>
            <a:ext cx="263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GPN_DIN Regular"/>
                <a:cs typeface="GPN_DIN Regular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54203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батчей — максимум на PR, защита от тяжёлых 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8036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PN_DIN Regular"/>
                <a:cs typeface="GPN_DIN Regular"/>
              </a:rPr>
              <a:t>MAX_BATCHES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520440"/>
            <a:ext cx="117591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3F86"/>
                </a:solidFill>
                <a:latin typeface="GPN_DIN Regular"/>
                <a:cs typeface="GPN_DIN Regular"/>
              </a:rPr>
              <a:t>ТИПИЧНЫЕ ПРОБЛЕМЫ И РЕШЕНИЯ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931920"/>
            <a:ext cx="1737360" cy="50292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93192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Фрагменты diff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931920"/>
            <a:ext cx="484632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94560" y="39319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Модель не видит файл целиком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6872" y="3931920"/>
            <a:ext cx="512064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68312" y="39319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Полное содержимое + diff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4498848"/>
            <a:ext cx="1737360" cy="50292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4498848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Большой 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4498848"/>
            <a:ext cx="484632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94560" y="449884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Переполняет контекст 30k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6872" y="4498848"/>
            <a:ext cx="512064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68312" y="449884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Батчевание по ~8–10k токенов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" y="5065776"/>
            <a:ext cx="1737360" cy="50292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065776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Нет истории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5065776"/>
            <a:ext cx="484632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94560" y="5065776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Модель не видит паттерны кода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6872" y="5065776"/>
            <a:ext cx="512064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68312" y="5065776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5 последних коммитов на файл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" y="5632704"/>
            <a:ext cx="1737360" cy="50292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5632704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Повторный запуск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5632704"/>
            <a:ext cx="484632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94560" y="5632704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Дубли комментариев в PR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6872" y="5632704"/>
            <a:ext cx="5120640" cy="5029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68312" y="563270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GPN_DIN Regular"/>
                <a:cs typeface="GPN_DIN Regular"/>
              </a:rPr>
              <a:t>▸ </a:t>
            </a: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Dedup по маркеру до LLM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" y="6126480"/>
            <a:ext cx="11759184" cy="3657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6126480"/>
            <a:ext cx="116677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Решение: модель видит весь код и контекст, а повторные запуски не тратят вызовы 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АЛГОРИТМ ПАЙПЛАЙНА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8328" y="1051560"/>
            <a:ext cx="1847088" cy="1691640"/>
          </a:xfrm>
          <a:prstGeom prst="rect">
            <a:avLst/>
          </a:prstGeom>
          <a:solidFill>
            <a:srgbClr val="EEEEEE"/>
          </a:solidFill>
          <a:ln w="25400">
            <a:solidFill>
              <a:srgbClr val="003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8328" y="1051560"/>
            <a:ext cx="1847088" cy="3657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051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051560"/>
            <a:ext cx="134416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СБОР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81328"/>
            <a:ext cx="1664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Открытые PR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(REST API ALM)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051560"/>
            <a:ext cx="1847088" cy="1691640"/>
          </a:xfrm>
          <a:prstGeom prst="rect">
            <a:avLst/>
          </a:prstGeom>
          <a:solidFill>
            <a:srgbClr val="EEEEEE"/>
          </a:solidFill>
          <a:ln w="25400">
            <a:solidFill>
              <a:srgbClr val="4A8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051560"/>
            <a:ext cx="1847088" cy="36576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40864" y="1051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051560"/>
            <a:ext cx="134416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481328"/>
            <a:ext cx="1664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Изменения по всем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файлам 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051560"/>
            <a:ext cx="1847088" cy="1691640"/>
          </a:xfrm>
          <a:prstGeom prst="rect">
            <a:avLst/>
          </a:prstGeom>
          <a:solidFill>
            <a:srgbClr val="EEEEEE"/>
          </a:solidFill>
          <a:ln w="25400">
            <a:solidFill>
              <a:srgbClr val="E88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33672" y="1051560"/>
            <a:ext cx="1847088" cy="365760"/>
          </a:xfrm>
          <a:prstGeom prst="rect">
            <a:avLst/>
          </a:prstGeom>
          <a:solidFill>
            <a:srgbClr val="E88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8536" y="1051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051560"/>
            <a:ext cx="134416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КОНТЕКСТ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1481328"/>
            <a:ext cx="1664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5 последних коммитов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на каждый файл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051560"/>
            <a:ext cx="1847088" cy="1691640"/>
          </a:xfrm>
          <a:prstGeom prst="rect">
            <a:avLst/>
          </a:prstGeom>
          <a:solidFill>
            <a:srgbClr val="EEEEEE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1051560"/>
            <a:ext cx="1847088" cy="365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7" y="1051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051560"/>
            <a:ext cx="134416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БАТЧИ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1481328"/>
            <a:ext cx="1664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Части по ~8–10k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токенов → LLM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9015" y="1051560"/>
            <a:ext cx="1847088" cy="1691640"/>
          </a:xfrm>
          <a:prstGeom prst="rect">
            <a:avLst/>
          </a:prstGeom>
          <a:solidFill>
            <a:srgbClr val="EEEEEE"/>
          </a:solidFill>
          <a:ln w="25400">
            <a:solidFill>
              <a:srgbClr val="4A8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29015" y="1051560"/>
            <a:ext cx="1847088" cy="365760"/>
          </a:xfrm>
          <a:prstGeom prst="rect">
            <a:avLst/>
          </a:prstGeom>
          <a:solidFill>
            <a:srgbClr val="4A8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1051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5" y="1051560"/>
            <a:ext cx="134416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АГРЕГАЦИЯ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5" y="1481328"/>
            <a:ext cx="1664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Вердикт по приоритету,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склейка резюме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6687" y="1051560"/>
            <a:ext cx="1847088" cy="1691640"/>
          </a:xfrm>
          <a:prstGeom prst="rect">
            <a:avLst/>
          </a:prstGeom>
          <a:solidFill>
            <a:srgbClr val="EEEEEE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76687" y="1051560"/>
            <a:ext cx="1847088" cy="365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31551" y="10515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33887" y="1051560"/>
            <a:ext cx="134416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ПОСТ В 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7" y="1481328"/>
            <a:ext cx="1664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Markdown-отчёт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комментарием в 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" y="2971800"/>
            <a:ext cx="117591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3F86"/>
                </a:solidFill>
                <a:latin typeface="GPN_DIN Regular"/>
                <a:cs typeface="GPN_DIN Regular"/>
              </a:rPr>
              <a:t>ВАЛИДАЦИЯ И МЕТРИКИ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3383280"/>
            <a:ext cx="576072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47472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3F86"/>
                </a:solidFill>
                <a:latin typeface="GPN_DIN Regular"/>
                <a:cs typeface="GPN_DIN Regular"/>
              </a:rPr>
              <a:t>МЕТОДИКА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840480"/>
            <a:ext cx="54406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41 unit-тест на чистую логику пайплайна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eval на golden-датасете (эталонные вердикты)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Метрики: accuracy · Precision · Recall · F1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Confusion matrix по 3 классам вердикта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Trace-логи: latency, токены, промпт/ответ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Мониторинг: REVIEW_RUN_METRICS (JSON)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36792" y="3383280"/>
            <a:ext cx="5760720" cy="2926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01384" y="347472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3F86"/>
                </a:solidFill>
                <a:latin typeface="GPN_DIN Regular"/>
                <a:cs typeface="GPN_DIN Regular"/>
              </a:rPr>
              <a:t>ПРАВИЛА АГРЕГАЦИИ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4" y="3840480"/>
            <a:ext cx="54406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Вердикт: request_changes &gt; comment &gt; approve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Summary: склейка «Часть N» по батчам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Comments: объединение по всем батчам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Более 20 батчей → резюме «ручное ревью»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• Dedup по маркеру до вызова 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868680"/>
            <a:ext cx="11759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Структурированный JSON (verdict + summary + comments) конвертируется в markdown-отчёт и публикуется комментарием в PR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371600"/>
            <a:ext cx="6309360" cy="40233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3F86"/>
                </a:solidFill>
                <a:latin typeface="GPN_DIN Regular"/>
                <a:cs typeface="GPN_DIN Regular"/>
              </a:rPr>
              <a:t>ФОРМАТ ОТВЕТА МОДЕЛИ (JSON)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94360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"verdict": "approve | request_changes | comment",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"summary": "краткое резюме ревью",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"comments": [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 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    "file": "путь/к/файлу",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    "line": 42,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    "severity": "critical | major | minor | nit",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    "text": "текст замечания"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  ]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371600"/>
            <a:ext cx="5193792" cy="40233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68312" y="14630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КЛЮЧЕВЫЕ ВЫВОДЫ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1828800"/>
            <a:ext cx="48463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▸ Вердикт агрегируется по приоритету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▸ Summary склеивается «Часть N»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▸ Comments объединяются по батчам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▸ Markdown-комментарий одним общим thread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▸ Без привязки к конкретной строке файла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GPN_DIN Regular"/>
                <a:cs typeface="GPN_DIN Regular"/>
              </a:rPr>
              <a:t>▸ Повторные запуски не дублируют (dedup)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ВАЛИДАЦИЯ И ТЕСТЫ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868680"/>
            <a:ext cx="11759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Чистая логика пайплайна покрыта автотестами; качество модели оценивается на golden-датасете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417320"/>
            <a:ext cx="3657600" cy="20116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64592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003F86"/>
                </a:solidFill>
                <a:latin typeface="GPN_DIN Regular"/>
                <a:cs typeface="GPN_DIN Regular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0175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unit-тест проходит без обращения к ALM/LLM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1417320"/>
            <a:ext cx="3657600" cy="20116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98264" y="164592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2E8B57"/>
                </a:solidFill>
                <a:latin typeface="GPN_DIN Regular"/>
                <a:cs typeface="GPN_DIN Regular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30175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тест-модулей: review, prompt, config, alm, llm, eval,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417320"/>
            <a:ext cx="3657600" cy="20116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E88E1A"/>
                </a:solidFill>
                <a:latin typeface="GPN_DIN Regular"/>
                <a:cs typeface="GPN_DIN Regula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класса вердикта: approve · request_changes · comment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657600"/>
            <a:ext cx="117591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3F86"/>
                </a:solidFill>
                <a:latin typeface="GPN_DIN Regular"/>
                <a:cs typeface="GPN_DIN Regular"/>
              </a:rPr>
              <a:t>ЧТО ПРОВЕРЯЕТСЯ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4023360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4023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test_review.py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4023360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40233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агрегация батчей, dedup-маркер, лимит батчей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4443984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4443984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test_prompt.py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4443984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4443984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загрузка и рендеринг промптов ([[WORK_ITEM]], [[FILES]])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4864608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" y="486460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test_config.py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4864608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6120" y="486460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чтение настроек из env и дефолты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" y="5285232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528523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test_alm.py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5285232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46120" y="528523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сборка URL коллекции/проекта, разбор ответов REST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5705856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" y="5705856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test_llm.py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5705856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5705856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разбор ответа LLM, учёт usage и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6126480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" y="61264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test_eval.py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6126480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46120" y="612648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accuracy / Precision / Recall / F1, confusion matrix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" y="6547104"/>
            <a:ext cx="2743200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6547104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3F86"/>
                </a:solidFill>
                <a:latin typeface="GPN_DIN Regular"/>
                <a:cs typeface="GPN_DIN Regular"/>
              </a:rPr>
              <a:t>test_monitoring.py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6547104"/>
            <a:ext cx="8942832" cy="365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46120" y="6547104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агрегация сводных метрик прогона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" y="5989320"/>
            <a:ext cx="11759184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989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PN_DIN Regular"/>
                <a:cs typeface="GPN_DIN Regular"/>
              </a:rPr>
              <a:t>Целевые метрики качества (eval): accuracy ≥ 80 % · Precision / Recall ≥ 0,7 по классам вердикта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ВНЕДРЕНИЕ: AS IS → TO 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8328" y="960120"/>
            <a:ext cx="534924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AS IS · СЕЙЧАС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46304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463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146304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46304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Инженер вручную читает diff каждого PR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24028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" y="2240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224028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24028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Ищет логические ошибки в SQL/скриптах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01752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" y="3017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" y="301752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01752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Держит в голове историю и паттерны кода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79476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" y="3794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" y="379476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379476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Пишет замечания в комментариях PR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4663440"/>
            <a:ext cx="53492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ПРОБЛЕМЫ: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Ревью субъективно и зависит от квалификации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Низкая производительность на потоке PR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Пропускаются неочевидные логические ошибки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Рутина отнимает время инженеров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960120"/>
            <a:ext cx="534924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67144" y="9601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TO BE · ЦЕЛЕВОЙ ПРОЦЕСС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8272" y="1463040"/>
            <a:ext cx="64008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2" y="1463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8352" y="146304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79792" y="146304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DAG Airflow находит открытые PR автоматически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8272" y="2240280"/>
            <a:ext cx="64008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22402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8352" y="224028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9792" y="224028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Собирает diff + полное содержимое + историю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3017520"/>
            <a:ext cx="64008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3017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8352" y="301752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79792" y="301752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Батчевое ревью локальной LLM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48272" y="3794760"/>
            <a:ext cx="64008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48272" y="3794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GPN_DIN Regular"/>
                <a:cs typeface="GPN_DIN Regular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88352" y="3794760"/>
            <a:ext cx="4709160" cy="640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79792" y="3794760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Публикует структурированный комментарий в PR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8272" y="4663440"/>
            <a:ext cx="5349240" cy="1645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12864" y="47548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РЕЗУЛЬТАТ: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Автоматический «второй взгляд» на каждый PR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Единый промпт под каждый тип кодовой базы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Масштабируется на все репозитории ALM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• Полностью внутри корпоративного контура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779008" y="3200400"/>
            <a:ext cx="868680" cy="822960"/>
          </a:xfrm>
          <a:prstGeom prst="rightArrow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ЭФФЕКТ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" y="868680"/>
            <a:ext cx="11759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GPN_DIN Regular"/>
                <a:cs typeface="GPN_DIN Regular"/>
              </a:rPr>
              <a:t>Снятие рутины первичного ревью и ускорение прохождения pull request'ов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325880"/>
            <a:ext cx="5760720" cy="173736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ОСНОВНОЙ ЭФФЕКТ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440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GPN_DIN Regular"/>
                <a:cs typeface="GPN_DIN Regular"/>
              </a:rPr>
              <a:t>Инженер получает готовый «второй взгляд» на изменения без ручного разбора diff'а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325880"/>
            <a:ext cx="5760720" cy="17373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1384" y="14173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КОНТУР БЕЗОПАСНОСТИ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783080"/>
            <a:ext cx="5440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GPN_DIN Regular"/>
                <a:cs typeface="GPN_DIN Regular"/>
              </a:rPr>
              <a:t>Локальный ALM + локальная LLM — данные не покидают корпоративную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246120"/>
            <a:ext cx="117591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3F86"/>
                </a:solidFill>
                <a:latin typeface="GPN_DIN Regular"/>
                <a:cs typeface="GPN_DIN Regular"/>
              </a:rPr>
              <a:t>ПАРАМЕТРЫ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611880"/>
            <a:ext cx="3291840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361188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3F86"/>
                </a:solidFill>
                <a:latin typeface="GPN_DIN Regular"/>
                <a:cs typeface="GPN_DIN Regular"/>
              </a:rPr>
              <a:t>Репозиториев в обзоре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611880"/>
            <a:ext cx="8394192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361188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6, в 2 проектах ALM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" y="3995928"/>
            <a:ext cx="3291840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399592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3F86"/>
                </a:solidFill>
                <a:latin typeface="GPN_DIN Regular"/>
                <a:cs typeface="GPN_DIN Regular"/>
              </a:rPr>
              <a:t>Промптов под типы кода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3995928"/>
            <a:ext cx="8394192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399592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5 (Greenplum, ClickHouse, PostgreSQL, Airflow)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4379976"/>
            <a:ext cx="3291840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437997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3F86"/>
                </a:solidFill>
                <a:latin typeface="GPN_DIN Regular"/>
                <a:cs typeface="GPN_DIN Regular"/>
              </a:rPr>
              <a:t>Запуск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03320" y="4379976"/>
            <a:ext cx="8394192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4379976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по команде / по расписанию (Airflow)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764024"/>
            <a:ext cx="3291840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" y="4764024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3F86"/>
                </a:solidFill>
                <a:latin typeface="GPN_DIN Regular"/>
                <a:cs typeface="GPN_DIN Regular"/>
              </a:rPr>
              <a:t>Внешние сервисы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4764024"/>
            <a:ext cx="8394192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476402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нет — всё локально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148072"/>
            <a:ext cx="3291840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" y="5148072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3F86"/>
                </a:solidFill>
                <a:latin typeface="GPN_DIN Regular"/>
                <a:cs typeface="GPN_DIN Regular"/>
              </a:rPr>
              <a:t>Стоимость вызовов 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5148072"/>
            <a:ext cx="8394192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94760" y="514807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локальная модель, без внешних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5532120"/>
            <a:ext cx="3291840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553212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03F86"/>
                </a:solidFill>
                <a:latin typeface="GPN_DIN Regular"/>
                <a:cs typeface="GPN_DIN Regular"/>
              </a:rPr>
              <a:t>Риск дублей комментариев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5532120"/>
            <a:ext cx="8394192" cy="329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94760" y="553212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GPN_DIN Regular"/>
                <a:cs typeface="GPN_DIN Regular"/>
              </a:rPr>
              <a:t>исключён (dedup по маркеру)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" y="5852160"/>
            <a:ext cx="11759184" cy="50292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612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Нефинансовый эффект: повышение качества и скорости ревью · стандартизация процесса · тиражирование на новые репозитории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" y="27432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3F86"/>
                </a:solidFill>
                <a:latin typeface="GPN_DIN Regular"/>
                <a:cs typeface="GPN_DIN Regular"/>
              </a:rPr>
              <a:t>ИТОГИ И ПЛАНЫ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777240"/>
            <a:ext cx="11521440" cy="36576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8328" y="960120"/>
            <a:ext cx="576072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ИТОГИ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417320"/>
            <a:ext cx="5760720" cy="4937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Реализован полный пайплайн (сбор → ревью → комментарий)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Батчевое ревью с агрегацией результата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Dedup по маркеру — без дублей при повторных запусках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Мульти-проектность и мульти-репозиторность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Полное содержимое файлов + diff + история коммитов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59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Trace-логи: latency, токены, промпт/ответ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00599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Мониторинг прогона (REVIEW_RUN_METRICS)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49239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GPN_DIN Regular"/>
                <a:cs typeface="GPN_DIN Regular"/>
              </a:rPr>
              <a:t>✓ </a:t>
            </a:r>
            <a:r>
              <a:rPr sz="1200" b="0">
                <a:solidFill>
                  <a:srgbClr val="222222"/>
                </a:solidFill>
                <a:latin typeface="GPN_DIN Regular"/>
                <a:cs typeface="GPN_DIN Regular"/>
              </a:rPr>
              <a:t>Оценка качества (eval) и 41 unit-тест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960120"/>
            <a:ext cx="5760720" cy="41148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9601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GPN_DIN Regular"/>
                <a:cs typeface="GPN_DIN Regular"/>
              </a:rPr>
              <a:t>ПЛАНЫ РАЗВИТИЯ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1417320"/>
            <a:ext cx="5760720" cy="49377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01384" y="1508760"/>
            <a:ext cx="1188720" cy="64008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150876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Этап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5087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Сервис-планировщик: периодический опрос открытых PR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1384" y="2743200"/>
            <a:ext cx="1188720" cy="64008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274320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Этап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74320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Service Hook (webhook): мгновенная реакция на создание PR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1384" y="3977639"/>
            <a:ext cx="1188720" cy="64008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3977639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Опция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977639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Построчные комментарии к файлам/строкам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1384" y="5212079"/>
            <a:ext cx="1188720" cy="640080"/>
          </a:xfrm>
          <a:prstGeom prst="rect">
            <a:avLst/>
          </a:prstGeom>
          <a:solidFill>
            <a:srgbClr val="00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1384" y="5212079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GPN_DIN Regular"/>
                <a:cs typeface="GPN_DIN Regular"/>
              </a:rPr>
              <a:t>Перспектива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12079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GPN_DIN Regular"/>
                <a:cs typeface="GPN_DIN Regular"/>
              </a:rPr>
              <a:t>Расширение промптов под новые типы кодовых баз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Автоматический ИИ-ревьюер pull request'ов в Azure DevOps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GPN_DIN Regular"/>
                <a:cs typeface="GPN_DIN Regula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F2F2F2"/>
      </a:lt2>
      <a:accent1>
        <a:srgbClr val="00D6D2"/>
      </a:accent1>
      <a:accent2>
        <a:srgbClr val="0094DF"/>
      </a:accent2>
      <a:accent3>
        <a:srgbClr val="00478D"/>
      </a:accent3>
      <a:accent4>
        <a:srgbClr val="042746"/>
      </a:accent4>
      <a:accent5>
        <a:srgbClr val="4F177E"/>
      </a:accent5>
      <a:accent6>
        <a:srgbClr val="8248B7"/>
      </a:accent6>
      <a:hlink>
        <a:srgbClr val="004596"/>
      </a:hlink>
      <a:folHlink>
        <a:srgbClr val="706F6F"/>
      </a:folHlink>
    </a:clrScheme>
    <a:fontScheme name="ГПН ДИН">
      <a:majorFont>
        <a:latin typeface="GPN_DIN Condensed Bold"/>
        <a:ea typeface="Arial"/>
        <a:cs typeface="Arial"/>
      </a:majorFont>
      <a:minorFont>
        <a:latin typeface="GPN_DIN Regular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F2F2F2"/>
      </a:lt2>
      <a:accent1>
        <a:srgbClr val="00D6D2"/>
      </a:accent1>
      <a:accent2>
        <a:srgbClr val="0094DF"/>
      </a:accent2>
      <a:accent3>
        <a:srgbClr val="00478D"/>
      </a:accent3>
      <a:accent4>
        <a:srgbClr val="042746"/>
      </a:accent4>
      <a:accent5>
        <a:srgbClr val="4F177E"/>
      </a:accent5>
      <a:accent6>
        <a:srgbClr val="8248B7"/>
      </a:accent6>
      <a:hlink>
        <a:srgbClr val="004596"/>
      </a:hlink>
      <a:folHlink>
        <a:srgbClr val="706F6F"/>
      </a:folHlink>
    </a:clrScheme>
    <a:fontScheme name="ГПН ДИН">
      <a:majorFont>
        <a:latin typeface="GPN_DIN Condensed Bold"/>
        <a:ea typeface="Arial"/>
        <a:cs typeface="Arial"/>
      </a:majorFont>
      <a:minorFont>
        <a:latin typeface="GPN_DIN Regular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F2F2F2"/>
      </a:lt2>
      <a:accent1>
        <a:srgbClr val="00D6D2"/>
      </a:accent1>
      <a:accent2>
        <a:srgbClr val="0094DF"/>
      </a:accent2>
      <a:accent3>
        <a:srgbClr val="00478D"/>
      </a:accent3>
      <a:accent4>
        <a:srgbClr val="042746"/>
      </a:accent4>
      <a:accent5>
        <a:srgbClr val="4F177E"/>
      </a:accent5>
      <a:accent6>
        <a:srgbClr val="8248B7"/>
      </a:accent6>
      <a:hlink>
        <a:srgbClr val="004596"/>
      </a:hlink>
      <a:folHlink>
        <a:srgbClr val="706F6F"/>
      </a:folHlink>
    </a:clrScheme>
    <a:fontScheme name="">
      <a:majorFont>
        <a:latin typeface="GPN_DIN Condensed Bold"/>
        <a:ea typeface="Arial"/>
        <a:cs typeface="Arial"/>
      </a:majorFont>
      <a:minorFont>
        <a:latin typeface="GPN_DIN Regular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1396</Words>
  <Application>Microsoft Office PowerPoint</Application>
  <DocSecurity>0</DocSecurity>
  <PresentationFormat>Широкоэкранный</PresentationFormat>
  <Paragraphs>256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GPN_DIN Condensed Bold</vt:lpstr>
      <vt:lpstr>GPN_DIN Condensed Medium</vt:lpstr>
      <vt:lpstr>GPN_DIN Condensed Regular</vt:lpstr>
      <vt:lpstr>GPN_DIN Regular</vt:lpstr>
      <vt:lpstr>Wingdings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Подбор оптимальной механической скорости проходки</dc:title>
  <dc:subject/>
  <dc:creator>Петухова Александра Николаевна</dc:creator>
  <cp:keywords/>
  <dc:description/>
  <cp:lastModifiedBy>Раиль Ахметшин</cp:lastModifiedBy>
  <cp:revision>209</cp:revision>
  <dcterms:created xsi:type="dcterms:W3CDTF">2012-12-03T06:56:55Z</dcterms:created>
  <dcterms:modified xsi:type="dcterms:W3CDTF">2026-09-17T12:38:45Z</dcterms:modified>
  <cp:category/>
  <dc:identifier/>
  <cp:contentStatus/>
  <dc:language/>
  <cp:version/>
</cp:coreProperties>
</file>